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10972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-731520"/>
            <a:ext cx="3657600" cy="3657600"/>
          </a:xfrm>
          <a:prstGeom prst="oval">
            <a:avLst/>
          </a:prstGeom>
          <a:solidFill>
            <a:srgbClr val="1E4DB7">
              <a:alpha val="20000"/>
            </a:srgbClr>
          </a:solidFill>
          <a:ln w="25400">
            <a:solidFill>
              <a:srgbClr val="00C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371600"/>
            <a:ext cx="2743200" cy="2743200"/>
          </a:xfrm>
          <a:prstGeom prst="oval">
            <a:avLst/>
          </a:prstGeom>
          <a:solidFill>
            <a:srgbClr val="5B2D91">
              <a:alpha val="20000"/>
            </a:srgbClr>
          </a:solidFill>
          <a:ln w="12700">
            <a:solidFill>
              <a:srgbClr val="7B4F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3200400"/>
            <a:ext cx="2286000" cy="2286000"/>
          </a:xfrm>
          <a:prstGeom prst="oval">
            <a:avLst/>
          </a:prstGeom>
          <a:solidFill>
            <a:srgbClr val="00C2E0">
              <a:alpha val="1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1097280" cy="10972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116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E0"/>
                </a:solidFill>
              </a:rPr>
              <a:t>Chapter 5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114800" y="38404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Concurrency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Control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2860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E0"/>
                </a:solidFill>
              </a:rPr>
              <a:t>ADAMA SCIENCE AND TECHNOLOGY UNIVERSITY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2860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D8F0"/>
                </a:solidFill>
              </a:rPr>
              <a:t>Department of Computer Science &amp; Engineering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2860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Database Systems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860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0B429"/>
                </a:solidFill>
              </a:rPr>
              <a:t>CSEg 2208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28600" y="4480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D8F0"/>
                </a:solidFill>
              </a:rPr>
              <a:t>Academic Year 2025/2026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Presentation Outline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68680"/>
            <a:ext cx="457200" cy="62179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0241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0058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Introduction to Concurrency Control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618488"/>
            <a:ext cx="457200" cy="62179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1773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7556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Need for Concurrency Control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68296"/>
            <a:ext cx="457200" cy="62179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" y="25237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5054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Locking Techniques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18104"/>
            <a:ext cx="457200" cy="62179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" y="32735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2552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Two-Phase Locking (2PL)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67912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67912"/>
            <a:ext cx="457200" cy="62179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40233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00507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Deadlock and Starvation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868680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868680"/>
            <a:ext cx="457200" cy="62179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10241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10058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Timestamp-Based Protocols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618488"/>
            <a:ext cx="457200" cy="62179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33" name="Text 31"/>
          <p:cNvSpPr/>
          <p:nvPr/>
        </p:nvSpPr>
        <p:spPr>
          <a:xfrm>
            <a:off x="4809744" y="1773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175564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Multiversion Concurrency Control (MVCC)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2368296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368296"/>
            <a:ext cx="457200" cy="62179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37" name="Text 35"/>
          <p:cNvSpPr/>
          <p:nvPr/>
        </p:nvSpPr>
        <p:spPr>
          <a:xfrm>
            <a:off x="4809744" y="25237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25054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Optimistic Concurrency Control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118104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118104"/>
            <a:ext cx="457200" cy="62179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41" name="Text 39"/>
          <p:cNvSpPr/>
          <p:nvPr/>
        </p:nvSpPr>
        <p:spPr>
          <a:xfrm>
            <a:off x="4809744" y="32735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325526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Multiple Granularity Locking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3867912"/>
            <a:ext cx="40233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867912"/>
            <a:ext cx="457200" cy="62179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45" name="Text 43"/>
          <p:cNvSpPr/>
          <p:nvPr/>
        </p:nvSpPr>
        <p:spPr>
          <a:xfrm>
            <a:off x="4809744" y="40233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400507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Summary &amp; Comparison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Concurrency Control?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The set of techniques used by a DBMS to manage simultaneous execution of transactions while maintaining database consistency.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269748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45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892808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Mechanism to coordinate concurrent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Ensures isolation between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Prevents interference and data corruption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50876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08760"/>
            <a:ext cx="269748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545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Importance in DBMS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892808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Multi-user databases require concurrent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Without control, data becomes inconsistent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Critical for banking, e-commerce, healthcare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508760"/>
            <a:ext cx="26974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508760"/>
            <a:ext cx="269748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453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 Isolation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892808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transaction appears to run alone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Intermediate states not visible to others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ACID properties must be maintained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Transaction Processing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1828800" cy="868680"/>
          </a:xfrm>
          <a:prstGeom prst="rect">
            <a:avLst/>
          </a:prstGeom>
          <a:solidFill>
            <a:srgbClr val="1E4DB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Programs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914400"/>
            <a:ext cx="1828800" cy="868680"/>
          </a:xfrm>
          <a:prstGeom prst="rect">
            <a:avLst/>
          </a:prstGeom>
          <a:solidFill>
            <a:srgbClr val="1E4DB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868680"/>
            <a:ext cx="1828800" cy="868680"/>
          </a:xfrm>
          <a:prstGeom prst="rect">
            <a:avLst/>
          </a:prstGeom>
          <a:solidFill>
            <a:srgbClr val="1E4DB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1005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Concurrency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 Manager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286000"/>
            <a:ext cx="1828800" cy="868680"/>
          </a:xfrm>
          <a:prstGeom prst="rect">
            <a:avLst/>
          </a:prstGeom>
          <a:solidFill>
            <a:srgbClr val="1E4DB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2423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554480"/>
            <a:ext cx="1828800" cy="868680"/>
          </a:xfrm>
          <a:prstGeom prst="rect">
            <a:avLst/>
          </a:prstGeom>
          <a:solidFill>
            <a:srgbClr val="1E4DB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691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Buffer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1828800" cy="868680"/>
          </a:xfrm>
          <a:prstGeom prst="rect">
            <a:avLst/>
          </a:prstGeom>
          <a:solidFill>
            <a:srgbClr val="1E4DB7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337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(Disk)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03120" y="1344168"/>
            <a:ext cx="18288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0" y="1344168"/>
            <a:ext cx="18288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1344168"/>
            <a:ext cx="4572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715768"/>
            <a:ext cx="457200" cy="457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3" name="Shape 21"/>
          <p:cNvSpPr/>
          <p:nvPr/>
        </p:nvSpPr>
        <p:spPr>
          <a:xfrm>
            <a:off x="5212080" y="1783080"/>
            <a:ext cx="45720" cy="50292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2423160"/>
            <a:ext cx="45720" cy="7772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D91"/>
                </a:solidFill>
              </a:rPr>
              <a:t>Key Component: Concurrency-Control Manager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Ensures that concurrent execution of transactions does not result in incorrect or inconsistent data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Need for Concurrency Control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Why concurrent access must be managed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Bank Database Example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Consider accounts A = 1000, B = 2000, C = 700. Total = 3700 (must always hold)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554480" cy="10058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</a:rPr>
              <a:t>$1000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1234440"/>
            <a:ext cx="1554480" cy="10058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627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</a:rPr>
              <a:t>$2000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114800" y="1234440"/>
            <a:ext cx="1554480" cy="10058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5" name="Text 13"/>
          <p:cNvSpPr/>
          <p:nvPr/>
        </p:nvSpPr>
        <p:spPr>
          <a:xfrm>
            <a:off x="4160520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 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16276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B429"/>
                </a:solidFill>
              </a:rPr>
              <a:t>$700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5E"/>
                </a:solidFill>
              </a:rPr>
              <a:t>Total Balance = $3700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Concurrent Transactions: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109728" cy="71323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07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B7"/>
                </a:solidFill>
              </a:rPr>
              <a:t>T1: Transfer $100 from A to 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182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Read A (1000) → A = 900, Write A; Read C (700) → C = 800, Write 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57600"/>
            <a:ext cx="109728" cy="71323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307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91"/>
                </a:solidFill>
              </a:rPr>
              <a:t>T2: Transfer $200 from B to 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005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Read B (2000) → B = 1800, Write B; Read A (900) → A = 1100, Write 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Inconsistent Schedule — Producing Incorrect Result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When transactions interleave without control, inconsistent results occur: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1280160"/>
            <a:ext cx="54864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read(A)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 = 1000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" y="1783080"/>
            <a:ext cx="54864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:= A − 50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 = 950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2286000"/>
            <a:ext cx="54864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read(A)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 = 1000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194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53E3E"/>
                </a:solidFill>
              </a:rPr>
              <a:t>⚠ Reads OLD value!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2788920"/>
            <a:ext cx="54864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:= A × 1.06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 = 1060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0120" y="3291840"/>
            <a:ext cx="54864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002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write(A)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3192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 = 950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53E3E"/>
                </a:solidFill>
              </a:rPr>
              <a:t>T1 overwrites T2's computation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60120" y="3794760"/>
            <a:ext cx="54864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002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write(A)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3192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A = 1060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69280" y="3703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53E3E"/>
                </a:solidFill>
              </a:rPr>
              <a:t>⚠ Lost update!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A = 1060 (WRONG!) — Correct result should be 1010. Inconsistency due to uncontrolled interleaving.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Correct Serializable Schedule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serializable schedule produces results equivalent to some serial execution: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80160"/>
            <a:ext cx="59436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1887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read(A)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1887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A = 1000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1307592"/>
            <a:ext cx="246888" cy="246888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664208"/>
            <a:ext cx="8229600" cy="43891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55648"/>
            <a:ext cx="59436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7556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16642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:= A − 50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16642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A = 950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1783080"/>
            <a:ext cx="246888" cy="246888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21" name="Text 19"/>
          <p:cNvSpPr/>
          <p:nvPr/>
        </p:nvSpPr>
        <p:spPr>
          <a:xfrm>
            <a:off x="8211312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39696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231136"/>
            <a:ext cx="59436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2311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" y="21396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write(A)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213969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Writes 950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2258568"/>
            <a:ext cx="246888" cy="246888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28" name="Text 26"/>
          <p:cNvSpPr/>
          <p:nvPr/>
        </p:nvSpPr>
        <p:spPr>
          <a:xfrm>
            <a:off x="8211312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615184"/>
            <a:ext cx="8229600" cy="43891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706624"/>
            <a:ext cx="59436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70662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261518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read(A)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261518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A = 950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2734056"/>
            <a:ext cx="246888" cy="246888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35" name="Text 33"/>
          <p:cNvSpPr/>
          <p:nvPr/>
        </p:nvSpPr>
        <p:spPr>
          <a:xfrm>
            <a:off x="8211312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090672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182112"/>
            <a:ext cx="59436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18211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" y="30906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:= A × 1.06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30906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A = 1007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29600" y="3209544"/>
            <a:ext cx="246888" cy="246888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42" name="Text 40"/>
          <p:cNvSpPr/>
          <p:nvPr/>
        </p:nvSpPr>
        <p:spPr>
          <a:xfrm>
            <a:off x="8211312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566160"/>
            <a:ext cx="8229600" cy="43891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657600"/>
            <a:ext cx="59436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3000" y="35661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write(A)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89120" y="35661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7C"/>
                </a:solidFill>
              </a:rPr>
              <a:t>Writes 1007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29600" y="3685032"/>
            <a:ext cx="246888" cy="246888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49" name="Text 47"/>
          <p:cNvSpPr/>
          <p:nvPr/>
        </p:nvSpPr>
        <p:spPr>
          <a:xfrm>
            <a:off x="8211312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A = 1007 — Correct serializable result! Equivalent to T1 followed by T2 in serial order.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Purpose of Concurrency Control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25880"/>
            <a:ext cx="685800" cy="685800"/>
          </a:xfrm>
          <a:prstGeom prst="oval">
            <a:avLst/>
          </a:prstGeom>
          <a:solidFill>
            <a:srgbClr val="1E4DB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8988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B7"/>
                </a:solidFill>
              </a:rPr>
              <a:t>Isolation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14813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Each transaction executes as if it were the only one — intermediate states are hidden from others.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9144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25880"/>
            <a:ext cx="685800" cy="685800"/>
          </a:xfrm>
          <a:prstGeom prst="oval">
            <a:avLst/>
          </a:prstGeom>
          <a:solidFill>
            <a:srgbClr val="5B2D9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389888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91"/>
                </a:solidFill>
              </a:rPr>
              <a:t>Consistency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77840" y="14813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Database moves from one consistent state to another; all integrity constraints preserved.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246120"/>
            <a:ext cx="685800" cy="685800"/>
          </a:xfrm>
          <a:prstGeom prst="oval">
            <a:avLst/>
          </a:prstGeom>
          <a:solidFill>
            <a:srgbClr val="00B87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310128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7C"/>
                </a:solidFill>
              </a:rPr>
              <a:t>Conflict Resolution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371600" y="340156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Detects and resolves conflicts between transactions accessing the same data items.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0" y="283464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246120"/>
            <a:ext cx="685800" cy="685800"/>
          </a:xfrm>
          <a:prstGeom prst="oval">
            <a:avLst/>
          </a:prstGeom>
          <a:solidFill>
            <a:srgbClr val="F0B42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310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</a:rPr>
              <a:t>Safe Concurrency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40156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Allows maximum concurrency while preventing anomalies like lost updates, dirty reads, and phantoms.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Concurrency Control Techniques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Overview of major approaches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Overview of Concurrency Control Techniques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24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Transactions acquire locks before accessing data items. Shared (read) and exclusive (write) locks.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3931920" cy="16916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0241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Timestamping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Each transaction gets a timestamp. Operations are allowed/rejected based on timestamp ordering.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999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Optimistic Methods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Execute without restrictions; validate at commit time. Best for low-conflict environments.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31920" cy="1691640"/>
          </a:xfrm>
          <a:prstGeom prst="rect">
            <a:avLst/>
          </a:prstGeom>
          <a:solidFill>
            <a:srgbClr val="F6820D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443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2999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Multiversion Methods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4747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Maintain multiple versions of data items. Reads never blocked; improves concurrency greatly.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Comparison of Concurrency Control Techniques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10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621792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Performance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Deadlock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Concurrency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621792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Locking (2PL)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Possible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31136"/>
          <a:ext cx="8229600" cy="621792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Timestamping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High (read-heavy)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B87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9504"/>
          <a:ext cx="8229600" cy="621792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Optimistic CC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High (low conflict)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B87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47872"/>
          <a:ext cx="8229600" cy="621792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MVCC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B87C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2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All techniques aim to achieve serializability while maximizing throughput and minimizing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Locking Techniques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Controlling access through locks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to Locking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</a:rPr>
              <a:t>A lock is a mechanism to control concurrent access to shared data items in a database.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188720"/>
            <a:ext cx="1188720" cy="118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13258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325880"/>
            <a:ext cx="384048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" y="1362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Modes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" y="17099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Shared Lock (S-lock): Allows read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Exclusive Lock (X-lock): Allows read + write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two transactions can hold conflicting locks simultaneously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Lock manager maintains a lock table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89120" y="13258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1325880"/>
            <a:ext cx="384048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2"/>
          <p:cNvSpPr/>
          <p:nvPr/>
        </p:nvSpPr>
        <p:spPr>
          <a:xfrm>
            <a:off x="4498848" y="1362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Rules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98848" y="17099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Must lock a data item before accessing 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Must unlock after transaction completes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Shared locks are compatible with other shared locks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Exclusive lock is incompatible with all other locks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Shared vs. Exclusive Locks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S-Lock (Shared)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Read-only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Multiple transactions allowed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request: lock-S(Q)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release: unlock(Q)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6868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X-Lock (Exclusive)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2527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 and write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Only ONE transaction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request: lock-X(Q)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release: unlock(Q)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Lock Compatibility Matrix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128016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Request ↓  Held 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S-Lock Held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X-Lock Held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 Lock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Request S-Lock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87C"/>
                          </a:solidFill>
                        </a:rPr>
                        <a:t>✓ Compatible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✗ Wait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87C"/>
                          </a:solidFill>
                        </a:rPr>
                        <a:t>✓ Grant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Request X-Lock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✗ Wait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</a:rPr>
                        <a:t>✗ Wait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87C"/>
                          </a:solidFill>
                        </a:rPr>
                        <a:t>✓ Grant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Lock Manager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402336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Responsibilities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Processes lock/unlock requests from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Maintains a lock table (hash indexed by data items)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Grants or queues lock requests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Handles lock conversions and upgrades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905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Table Entry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25272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Data item identifier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Number of transactions holding locks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Lock type (shared/exclusive)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Queue of waiting transactions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Lock Table Structure (Linked List per Data Item)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737360" cy="7315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F0"/>
                </a:solidFill>
              </a:rPr>
              <a:t>Lock info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630168"/>
            <a:ext cx="36576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60320" y="3291840"/>
            <a:ext cx="1737360" cy="7315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1" name="Text 19"/>
          <p:cNvSpPr/>
          <p:nvPr/>
        </p:nvSpPr>
        <p:spPr>
          <a:xfrm>
            <a:off x="256032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F0"/>
                </a:solidFill>
              </a:rPr>
              <a:t>Lock info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630168"/>
            <a:ext cx="36576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291840"/>
            <a:ext cx="1737360" cy="7315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F0"/>
                </a:solidFill>
              </a:rPr>
              <a:t>Lock info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3630168"/>
            <a:ext cx="36576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8" name="Shape 26"/>
          <p:cNvSpPr/>
          <p:nvPr/>
        </p:nvSpPr>
        <p:spPr>
          <a:xfrm>
            <a:off x="6766560" y="3291840"/>
            <a:ext cx="1737360" cy="7315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Item 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8F0"/>
                </a:solidFill>
              </a:rPr>
              <a:t>Lock info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Locking Rules — Well-Formed Transactions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85800" cy="66751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914400"/>
            <a:ext cx="7498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transaction must issue lock-S(Q) or lock-X(Q) before any read(Q) operation.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841248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91640"/>
            <a:ext cx="685800" cy="66751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91640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1691640"/>
            <a:ext cx="7498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transaction must issue lock-X(Q) before any write(Q) operation.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841248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68880"/>
            <a:ext cx="685800" cy="667512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468880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468880"/>
            <a:ext cx="7498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transaction may convert a lock-S to lock-X (upgrade) — only in growing phase.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46120"/>
            <a:ext cx="685800" cy="667512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46120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246120"/>
            <a:ext cx="7498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transaction must issue unlock(Q) only after all reads and writes on Q are complete.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8412480" cy="66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23360"/>
            <a:ext cx="685800" cy="667512"/>
          </a:xfrm>
          <a:prstGeom prst="rect">
            <a:avLst/>
          </a:prstGeom>
          <a:solidFill>
            <a:srgbClr val="F6820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023360"/>
            <a:ext cx="685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023360"/>
            <a:ext cx="74980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transaction is said to be well-formed if it follows all the above rules.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53E3E"/>
                </a:solidFill>
              </a:rPr>
              <a:t>Locking alone does NOT guarantee serializability — we also need Two-Phase Locking!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 Lock (lock-S)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Procedure: lock-S(Q)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029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252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Q has an X-lock held by another transaction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91056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93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THEN: wait until X-lock is released; retry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5029200" cy="347472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933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Q has an S-lock or no lock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THEN: grant S-lock to requesting transaction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61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AND: record transaction in lock table for 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868680"/>
            <a:ext cx="2286000" cy="5029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868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Request S-Lock(Q)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45720" cy="3657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1737360"/>
            <a:ext cx="2286000" cy="5943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X-Lock held?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331720"/>
            <a:ext cx="45720" cy="3657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2697480"/>
            <a:ext cx="2286000" cy="502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Wait &amp; Retry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200400"/>
            <a:ext cx="45720" cy="3657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2160" y="3566160"/>
            <a:ext cx="2286000" cy="50292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Grant S-Lock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YES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7C"/>
                </a:solidFill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Write Lock (lock-X)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Procedure: lock-X(Q)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5029200" cy="34747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252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Q has any lock (S or X) by another transaction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91056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093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THEN: wait until all locks released; retry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5029200" cy="34747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933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Q is unlocked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THEN: grant X-lock to requesting transaction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614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AND: record transaction in lock table for Q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868680"/>
            <a:ext cx="2286000" cy="5029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0" y="868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Request X-Lock(Q)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45720" cy="3657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1737360"/>
            <a:ext cx="2286000" cy="5943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Any lock held?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2331720"/>
            <a:ext cx="45720" cy="3657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2697480"/>
            <a:ext cx="2286000" cy="502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Wait &amp; Retry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3200400"/>
            <a:ext cx="45720" cy="36576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2160" y="3566160"/>
            <a:ext cx="2286000" cy="50292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Grant X-Lock 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3957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YES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3200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87C"/>
                </a:solidFill>
              </a:rPr>
              <a:t>NO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Lock Conversion — Upgrade &amp; Downgrade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Upgrade (S → X)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 holds S-lock, needs to write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Requests upgrade to X-lock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Only allowed in the growing phase (2PL)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Fails if another transaction holds S-lock on same item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Downgrade (X → 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 holds X-lock, finished writing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Converts to S-lock to allow others to read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Only allowed in the shrinking phase (2PL)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Improves concurrency without full unlock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Example — Lock Upgrade: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3200400" cy="2468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4728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lock-S(A)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9040" y="344728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Acquire shared lock — reading 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2160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read(A)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49040" y="372160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A = 500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3200400" cy="2468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9592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lock-X(A)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49040" y="39959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Upgrade to exclusive — need to write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320040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7024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write(A)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49040" y="427024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A = 550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526280"/>
            <a:ext cx="3200400" cy="24688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4456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T1: unlock(A)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49040" y="454456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</a:rPr>
              <a:t>Release X-lock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Incorrect Locking — Non-Serializable Schedule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Locking without Two-Phase discipline can produce non-serializable schedules: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" cy="34747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lock-X(A)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unlock(A)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715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53E3E"/>
                </a:solidFill>
              </a:rPr>
              <a:t>T1 releases before getting B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lock-X(B)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822960" cy="34747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2801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737360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764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lock-X(A)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17647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53E3E"/>
                </a:solidFill>
              </a:rPr>
              <a:t>T2 gets A between T1 ops!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46320" y="2212848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240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read(A)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53E3E"/>
                </a:solidFill>
              </a:rPr>
              <a:t>⚠ Sees partially updated state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2688336"/>
            <a:ext cx="32004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715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2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Problem: T1 releases lock on A before accessing B — T2 sees A in inconsistent intermediate state. Solution: Two-Phase Locking!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Two-Phase Locking (2PL)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Guaranteeing serializability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to Two-Phase Locking (2PL)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Two-Phase Locking Protocol: A transaction must acquire ALL locks before releasing ANY lock.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5448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591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2PL 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9385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Ensures conflict serializability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transaction can 'slip in' between another's reads/writes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Provides a well-defined transaction lifecycle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Proven theoretical guarantee of correctness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55448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591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Protocol Requirement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193852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Phase 1 (Growing): Only lock requests allowed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Phase 2 (Shrinking): Only unlock requests allowed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Lock point = maximum locks held simultaneously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Serializability order = order of lock 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B87C"/>
                </a:solidFill>
              </a:rPr>
              <a:t>Theorem: If all transactions follow 2PL, then any schedule is conflict-serializable.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Two-Phase Locking — Growing and Shrinking Phases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777240" cy="457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T starts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554480" y="3200400"/>
            <a:ext cx="777240" cy="64008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lock-S(A)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0" y="2560320"/>
            <a:ext cx="777240" cy="12801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lock-X(B)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566160" y="1920240"/>
            <a:ext cx="777240" cy="19202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lock-S(C)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777240" cy="19202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LOCK POINT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(max locks)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77840" y="2560320"/>
            <a:ext cx="777240" cy="128016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unlock(A)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83680" y="3200400"/>
            <a:ext cx="777240" cy="64008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unlock(C)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9520" y="3840480"/>
            <a:ext cx="777240" cy="457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38862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unlock(B)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457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914400"/>
            <a:ext cx="3611880" cy="3657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GROWING PHASE 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914400"/>
            <a:ext cx="4251960" cy="36576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914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← SHRINKING PHASE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914400"/>
            <a:ext cx="45720" cy="29260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9" name="Text 27"/>
          <p:cNvSpPr/>
          <p:nvPr/>
        </p:nvSpPr>
        <p:spPr>
          <a:xfrm>
            <a:off x="4069080" y="1298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B429"/>
                </a:solidFill>
              </a:rPr>
              <a:t>Lock Point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 rot="16200000">
            <a:off x="45720" y="18288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Number of Locks Held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Rules of Two-Phase Locking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548640" cy="16916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B7"/>
                </a:solidFill>
              </a:rPr>
              <a:t>Locking Phase (Growing)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57276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transaction may request locks. It may NOT release any lock until the lock point is reached.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548640" cy="16916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91440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91"/>
                </a:solidFill>
              </a:rPr>
              <a:t>Unlocking Phase (Shrinking)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57276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transaction may release locks. It may NOT request any new lock after releasing the first lock.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548640" cy="16916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3464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C"/>
                </a:solidFill>
              </a:rPr>
              <a:t>Lock Point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4930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point at which the transaction holds the maximum number of locks simultaneously.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34640"/>
            <a:ext cx="548640" cy="16916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283464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4924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Serializability Order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34930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Transactions are serialized in the order of their lock points — guaranteeing correct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2PL Execution Example — T1 and T2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22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8862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2011680"/>
                <a:gridCol w="1828800"/>
                <a:gridCol w="2011680"/>
              </a:tblGrid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T1 Operation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T2 Operation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T1 Locks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T2 Locks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lock-S(A), read(A)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S(A)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lock-X(B)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S(A), 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lock-S(A)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S(A), 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Waits for 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write(B), unlock(A)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Waits...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unlock(B) [lock point]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S(A) granted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lock-X(B)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S(A), X(B)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read(A), write(B)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Advantages and Limitations of 2PL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Advantages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Guarantees conflict-serializable schedules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Widely implemented in commercial DBMS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Variants exist: Strict 2PL, Rigorous 2PL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Strict 2PL: hold X-locks until commit (prevents cascading abort)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Rigorous 2PL: hold ALL locks until commit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Limitations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Can cause deadlocks (circular waiting)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Reduces concurrency — transactions may wait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Does not prevent starvation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Lock overhead adds processing 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Conservative 2PL (pre-lock all) reduces concurrency further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Variants: Basic 2PL → Strict 2PL → Rigorous 2PL (increasing safety, decreasing concurrency)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Deadlock and Starvation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Circular waiting and prevention strategies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Deadlock — 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Deadlock: A state where each transaction in a set waits for a lock held by another transaction in the same 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1280160" cy="640080"/>
          </a:xfrm>
          <a:prstGeom prst="oval">
            <a:avLst/>
          </a:prstGeom>
          <a:solidFill>
            <a:srgbClr val="1E4DB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1280160" cy="640080"/>
          </a:xfrm>
          <a:prstGeom prst="oval">
            <a:avLst/>
          </a:prstGeom>
          <a:solidFill>
            <a:srgbClr val="5B2D9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463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3108960"/>
            <a:ext cx="1280160" cy="640080"/>
          </a:xfrm>
          <a:prstGeom prst="oval">
            <a:avLst/>
          </a:prstGeom>
          <a:solidFill>
            <a:srgbClr val="F0B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108960"/>
            <a:ext cx="1280160" cy="640080"/>
          </a:xfrm>
          <a:prstGeom prst="oval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286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DB7"/>
                </a:solidFill>
              </a:rPr>
              <a:t>holds Lock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4DB7"/>
                </a:solidFill>
              </a:rPr>
              <a:t>→ waits for Lock 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D91"/>
                </a:solidFill>
              </a:rPr>
              <a:t>holds Lock 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2D91"/>
                </a:solidFill>
              </a:rPr>
              <a:t>→ waits for Lock 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1783080"/>
            <a:ext cx="100584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80560" y="3401568"/>
            <a:ext cx="100584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1828800"/>
            <a:ext cx="54864" cy="12801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828800"/>
            <a:ext cx="54864" cy="128016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40690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69080"/>
            <a:ext cx="3931920" cy="32004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Conditions for Deadlock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453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Mutual exclusion + Hold and Wait + No preemption + Circular wait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40690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406908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9" name="Text 27"/>
          <p:cNvSpPr/>
          <p:nvPr/>
        </p:nvSpPr>
        <p:spPr>
          <a:xfrm>
            <a:off x="4681728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DBMS Response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81728" y="4453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Detect deadlock → select victim → abort one transaction → restart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Deadlock Example — Wait-For Graph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t1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1097280"/>
            <a:ext cx="64008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097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005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lock-X(B)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581912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t2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1719072"/>
            <a:ext cx="64008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1719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16276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lock-X(A)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203704"/>
            <a:ext cx="822960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t3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2340864"/>
            <a:ext cx="640080" cy="2743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340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224942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lock-X(A) → WAIT (T2 holds A)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25496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A8A"/>
                </a:solidFill>
              </a:rPr>
              <a:t>t4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2962656"/>
            <a:ext cx="640080" cy="2743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29626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74520" y="287121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lock-X(B) → WAIT (T1 holds B)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447288"/>
            <a:ext cx="8229600" cy="5486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74520" y="34930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DEADLOCK! Circular wait detected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Wait-For Graph: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0" y="4114800"/>
            <a:ext cx="1097280" cy="457200"/>
          </a:xfrm>
          <a:prstGeom prst="oval">
            <a:avLst/>
          </a:prstGeom>
          <a:solidFill>
            <a:srgbClr val="1E4DB7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4114800"/>
            <a:ext cx="1097280" cy="457200"/>
          </a:xfrm>
          <a:prstGeom prst="oval">
            <a:avLst/>
          </a:prstGeom>
          <a:solidFill>
            <a:srgbClr val="5B2D9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4279392"/>
            <a:ext cx="548640" cy="45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6" name="Shape 34"/>
          <p:cNvSpPr/>
          <p:nvPr/>
        </p:nvSpPr>
        <p:spPr>
          <a:xfrm>
            <a:off x="4069080" y="4325112"/>
            <a:ext cx="54864" cy="2743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3E3E"/>
                </a:solidFill>
              </a:rPr>
              <a:t>T1 → waits for T2 → waits for T1 (CYCLE = DEADLOCK)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Deadlock Prevention Strategies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50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Conservative 2PL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9844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Lock ALL required data items at start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deadlock possible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Very low concurrency — impractical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Requires advance knowledge of data needs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950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Timestamp-Based Priority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129844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Assign unique timestamps to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Older transactions get priority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Newer transactions restart if conflict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Two policies: Wait-Die &amp; Wound-Wait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34640"/>
            <a:ext cx="393192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Hold-and-Wait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21868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Transactions release all locks before requesting new 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Very low utilization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Starvation possible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Rarely used in practice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3931920" cy="3200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Ordering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321868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All transactions lock items in same fixed order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Prevents cycles in wait-for graph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Requires global order on all data items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Used in some implementations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Wait-Die Protocol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Wait-Die: Older transactions wait; younger transactions die (abort and restart)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Rule: If Ti requests a lock held by Tj: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109728" cy="109728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93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Condition: Ti is older than Tj (TS(Ti) &lt; TS(Tj))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7C"/>
                </a:solidFill>
              </a:rPr>
              <a:t>Action: Ti WAITS for Tj to release the lock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54680"/>
            <a:ext cx="109728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Condition: Ti is younger than Tj (TS(Ti) &gt; TS(Tj))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Action: Ti DIES — aborts and restarts with same timestamp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Key Property: A transaction is never restarted with a later timestamp — starvation-free!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Wound-Wait Protocol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Wound-Wait: Older transactions wound (abort) younger ones; younger transactions wait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Rule: If Ti requests a lock held by Tj: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20240"/>
            <a:ext cx="109728" cy="10972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93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Condition: Ti is older than Tj (TS(Ti) &lt; TS(Tj))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Action: Ti WOUNDS Tj — Tj is aborted; Ti gets the lock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54680"/>
            <a:ext cx="109728" cy="109728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Condition: Ti is younger than Tj (TS(Ti) &gt; TS(Tj))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7C"/>
                </a:solidFill>
              </a:rPr>
              <a:t>Action: Ti WAITS for Tj to finish and release the lock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Comparison: Wait-Die vs Wound-Wait — Both prevent deadlock; Wound-Wait aborts younger; Wait-Die aborts younger too but by self-abort.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Deadlock Detection and Resolution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Detection via Wait-For Graph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Maintain a directed graph of waiting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Ti → Tj means Ti is waiting for a resource held by Tj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Deadlock exists if and only if the graph has a CYCLE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Detection algorithm invoked periodically or on timeout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Victim Selection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Select transaction that minimizes cost to abort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Factors: time elapsed, locks held, updates made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Avoid starvation: same transaction shouldn't always be victim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Victim is rolled back and restarted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Resolution Steps: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508760" cy="65836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1. Detect cycle in wait-for graph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30552" y="3703320"/>
            <a:ext cx="1508760" cy="65836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9" name="Text 17"/>
          <p:cNvSpPr/>
          <p:nvPr/>
        </p:nvSpPr>
        <p:spPr>
          <a:xfrm>
            <a:off x="2130552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2. Select victim transaction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03904" y="3703320"/>
            <a:ext cx="1508760" cy="65836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1" name="Text 19"/>
          <p:cNvSpPr/>
          <p:nvPr/>
        </p:nvSpPr>
        <p:spPr>
          <a:xfrm>
            <a:off x="3803904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3. Rollback victim to a savepoint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77256" y="3703320"/>
            <a:ext cx="1508760" cy="65836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3" name="Text 21"/>
          <p:cNvSpPr/>
          <p:nvPr/>
        </p:nvSpPr>
        <p:spPr>
          <a:xfrm>
            <a:off x="5477256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4. Release victim's locks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50608" y="3703320"/>
            <a:ext cx="1508760" cy="65836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5" name="Text 23"/>
          <p:cNvSpPr/>
          <p:nvPr/>
        </p:nvSpPr>
        <p:spPr>
          <a:xfrm>
            <a:off x="7150608" y="37490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5. Resume waiting transactions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Starvation — Problem and 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Starvation: A transaction waits indefinitely because other transactions repeatedly get priority.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1732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453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Causes of Starvation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0136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Deadlock recovery always picks same victim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Priority scheduling favors certain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Repeated conflicts for the same data item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Unfair lock manager queuing policy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Solutions: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828800"/>
            <a:ext cx="4114800" cy="86868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FIFO Queue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167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Transactions wait in first-come-first-served order. Oldest waiting transaction always gets priority.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834640"/>
            <a:ext cx="4114800" cy="86868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1729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Priority of waiting transactions increases over time — ensures eventual service.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840480"/>
            <a:ext cx="4114800" cy="86868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Victim Limit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1788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Transaction cannot be selected as victim more than N times before being allowed to proceed.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Modern DBMS combine FIFO queuing with aging to prevent both deadlock and starvation effectively.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Timestamp-Based Concurrency Control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Ordering transactions by 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7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Timestamp Ordering — Basics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31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00584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804672"/>
            <a:ext cx="6858000" cy="4572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822960"/>
            <a:ext cx="6675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Each transaction Ti receives a unique timestamp TS(Ti) when it starts. Transactions are serialized in this order.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141732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417320"/>
            <a:ext cx="265176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453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Timestamp Assignment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" y="180136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Assigned at transaction start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System clock or logical counter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Monotonically increasing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TS(Ti) &lt; TS(Tj) means Ti started first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41732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417320"/>
            <a:ext cx="265176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6" name="Text 13"/>
          <p:cNvSpPr/>
          <p:nvPr/>
        </p:nvSpPr>
        <p:spPr>
          <a:xfrm>
            <a:off x="3310128" y="1453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Serialization Order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10128" y="180136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Transactions ordered by timestamp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Serial order = timestamp order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Conflicts resolved using timestamps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locks needed — no deadlock!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141732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1417320"/>
            <a:ext cx="265176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0" name="Text 17"/>
          <p:cNvSpPr/>
          <p:nvPr/>
        </p:nvSpPr>
        <p:spPr>
          <a:xfrm>
            <a:off x="6144768" y="1453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Goals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44768" y="180136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Produce schedule equivalent to serial order of timestamps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Abort transaction that violates ordering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Restart aborted transaction with new timestamp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 Timestamps and Write Timestamps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read_TS(Q)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The largest timestamp of any transaction that successfully read Q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Updated whenever a transaction reads Q: read_TS(Q) = max(read_TS(Q), TS(Ti))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Records the most recent reader of data item 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write_TS(Q)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The timestamp of the transaction that wrote the current version of Q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Updated when a transaction writes Q: write_TS(Q) = TS(Ti)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Records the most recent writer of data item Q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Purpose — Checking Timestamp Order: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20440"/>
            <a:ext cx="1188720" cy="56692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204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Check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54787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TS(Ti) ≥ write_TS(Q) → proceed; else abort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06240"/>
            <a:ext cx="1188720" cy="566928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2062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Check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23367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TS(Ti) ≥ read_TS(Q) AND TS(Ti) ≥ write_TS(Q) → proceed; else abort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Timestamp Protocol — Write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Timestamp-based write(Q) by transaction Ti: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109728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TS(Ti) &lt; read_TS(Q)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</a:rPr>
              <a:t>→ ABORT Ti — a later transaction already read Q; Ti's write is too late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109728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59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TS(Ti) &lt; write_TS(Q)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700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</a:rPr>
              <a:t>→ ABORT Ti — a later transaction already wrote Q; Ti's write is obsolete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91840"/>
            <a:ext cx="109728" cy="86868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64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Both conditions false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6758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7C"/>
                </a:solidFill>
              </a:rPr>
              <a:t>→ PROCEED — execute write(Q) and set write_TS(Q) = TS(Ti)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Thomas's Write Rule: If TS(Ti) &lt; write_TS(Q), simply ignore the write (don't abort) — the write is obsolete anyway.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Timestamp Protocol — Read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Timestamp-based read(Q) by transaction Ti: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109728" cy="10515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TS(Ti) &lt; write_TS(Q)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</a:rPr>
              <a:t>→ ABORT Ti — a later transaction already wrote Q; Ti is trying to read an old 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14600"/>
            <a:ext cx="109728" cy="105156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Condition: TS(Ti) ≥ write_TS(Q)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7C"/>
                </a:solidFill>
              </a:rPr>
              <a:t>→ PROCEED — execute read(Q) and update read_TS(Q) = max(read_TS(Q), TS(Ti))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Summary: A transaction aborts when it tries to access data in a way that violates the established timestamp order — it is restarted with a new (later) timestamp.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Timestamp Protocol — Advantages and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Advantages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deadlocks — no circular waiting possible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locks needed — no lock overhead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Enforces a total ordering on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Schedule is guaranteed conflict-serializable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Thomas's Write Rule improves practical performance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Limitations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Starvation possible — some transactions may repeatedly abort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High overhead if many conflicts (many aborts)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Long transactions may be repeatedly aborted by short 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Cascading rollbacks can occur without strict protocols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Use Cases: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Best for read-heavy workloads with rare conflicts. Used in distributed DBMS and real-time systems where lock management is expensive.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Multiversion Concurrency Control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MVCC — Reads never blocked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8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to Multiversion Concurrency Control (MVCC)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MVCC maintains multiple versions of each data item — reads always find a suitable version without waiting.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63040"/>
            <a:ext cx="265176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4996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Multiple Versions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Each write creates a new version Qi with value, write_TS, and read_TS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Old versions kept until no transaction needs them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Version chain maintained per data item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63040"/>
            <a:ext cx="265176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4996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84708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Reads never blocked in MVCC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System finds the appropriate version for the reading transaction's timestamp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Returns consistent snapshot 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63040"/>
            <a:ext cx="265176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9" name="Text 17"/>
          <p:cNvSpPr/>
          <p:nvPr/>
        </p:nvSpPr>
        <p:spPr>
          <a:xfrm>
            <a:off x="6144768" y="14996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Write Strategy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1847088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New version created on each write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Version has write_TS = TS(Ti)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Older versions remain accessible to older 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MVCC with Timestamp Ordering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 Selection for Read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Find version Qk where write_TS(Qk) is largest ≤ TS(Ti)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 that version — read is always successful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Update read_TS(Qk) = max(read_TS(Qk), TS(Ti))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waiting, no abort for reads!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Write Rules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Find version Qk with largest write_TS(Qk) ≤ TS(Ti)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read_TS(Qk) &gt; TS(Ti): ABORT Ti (too late)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Otherwise: create new version with write_TS = TS(Ti)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Older versions remain for concurrent transactions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Version Chain Example: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828800" cy="7772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TS=5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rTS=12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995928"/>
            <a:ext cx="27432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3611880"/>
            <a:ext cx="1828800" cy="7772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TS=10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rTS=15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3995928"/>
            <a:ext cx="27432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3611880"/>
            <a:ext cx="1828800" cy="7772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TS=20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rTS=22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3995928"/>
            <a:ext cx="274320" cy="54864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1" name="Shape 29"/>
          <p:cNvSpPr/>
          <p:nvPr/>
        </p:nvSpPr>
        <p:spPr>
          <a:xfrm>
            <a:off x="6766560" y="3611880"/>
            <a:ext cx="1828800" cy="77724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TS=25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665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rTS=25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Transaction with TS=18 reads Q1 (write_TS=10 ≤ 18); Transaction with TS=23 reads Q2 (write_TS=20 ≤ 23)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Multiversion Two-Phase Locking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Combines 2PL with multiple versions — read locks on older versions, write locks on current version.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6304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Certify Lock Mechanism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Two versions: current (certified) and tentative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Write transactions update tentative version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At commit: acquire certify lock, make version current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Reads on certified version never blocked by writes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463040"/>
            <a:ext cx="3931920" cy="3200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184708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 lock: on certified (committed) version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Write lock: on tentative (uncommitted) version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Certify lock: exclusive; needed at commit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 and Write locks are compatible!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56692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Advantage: A reading transaction and a writing transaction can execute concurrently — no writer blocks a reader!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MVCC — Advantages and Drawbacks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393192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Advantages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25272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Reads never blocked — excellent read performance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deadlocks between readers and writers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Consistent snapshot reads for long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Writers don't block readers, readers don't block writers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Used in PostgreSQL, Oracle, MySQL (InnoDB)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68680"/>
            <a:ext cx="393192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905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Drawbacks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252728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Storage overhead — multiple versions consume space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Garbage collection needed to remove old versions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Write-write conflicts still require locking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Complex implementation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Version chain management adds CPU overhead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8412480" cy="56692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947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Real-World Usage: PostgreSQL, Oracle, SQL Server (Snapshot Isolation), MySQL InnoDB all implement MVCC as their core concurrency mechanism.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Optimistic Concurrency Control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Execute first, validate later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9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Optimistic Concurrency Control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Assume conflicts are rare — execute transactions freely and validate before committing.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63040"/>
            <a:ext cx="3931920" cy="3200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Basic Idea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84708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Transactions execute without acquiring locks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All reads/writes done on local (private) copies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Validation phase at commit: check for conflicts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valid: commit; else: abort and restart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463040"/>
            <a:ext cx="3931920" cy="3200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5" name="Text 13"/>
          <p:cNvSpPr/>
          <p:nvPr/>
        </p:nvSpPr>
        <p:spPr>
          <a:xfrm>
            <a:off x="4681728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For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81728" y="184708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Low-conflict environments (mostly reads)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Systems with short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When locking overhead exceeds conflict 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In-memory databases and analytics workloads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457200"/>
          </a:xfrm>
          <a:prstGeom prst="rect">
            <a:avLst/>
          </a:prstGeom>
          <a:solidFill>
            <a:srgbClr val="F6820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6557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⚠ If many conflicts exist, optimistic CC leads to frequent aborts — worse than locking in high-conflict scenarios.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7280" y="3977640"/>
            <a:ext cx="2103120" cy="77724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343400"/>
            <a:ext cx="27432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3977640"/>
            <a:ext cx="2103120" cy="77724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4343400"/>
            <a:ext cx="27432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977640"/>
            <a:ext cx="2103120" cy="77724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Optimistic CC — Three Phases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743200" cy="64008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 reads required data items from 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All writes performed on local (private) copies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Maintains a read set and write set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No locking — full concurrency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27832" y="86868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27832" y="868680"/>
            <a:ext cx="2743200" cy="64008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7" name="Text 15"/>
          <p:cNvSpPr/>
          <p:nvPr/>
        </p:nvSpPr>
        <p:spPr>
          <a:xfrm>
            <a:off x="3227832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Phase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64992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Check if execution conflicts with any committed transaction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64992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 assigned a commit timestamp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Validate using conditions on read/write sets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64992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Abort if validation fails; proceed if valid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1344" y="86868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868680"/>
            <a:ext cx="2743200" cy="64008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886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1344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Write Phase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18504" y="1645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If validation succeeded, write local copies to database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18504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Updates become visible to other transactions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18504" y="2834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Transaction is committed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18504" y="3429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</a:rPr>
              <a:t>Skipped if transaction is read-only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Optimistic CC — Validation Conditions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Transaction Ti passes validation (against all committed Tj where TS(Tj) &lt; TS(Ti)) if one of these holds: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71600"/>
            <a:ext cx="685800" cy="96012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444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B7"/>
                </a:solidFill>
              </a:rPr>
              <a:t>Tj completed before Ti started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7556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TS(Tj) &lt; start_TS(Ti): Tj fully finished (all 3 phases) before Ti began. No overlap possible.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68880"/>
            <a:ext cx="685800" cy="960120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6888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5420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D91"/>
                </a:solidFill>
              </a:rPr>
              <a:t>Tj completed before Ti's write phase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85292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Tj finished write phase before Ti starts write phase, AND write_set(Tj) ∩ read_set(Ti) = ∅.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8412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66160"/>
            <a:ext cx="685800" cy="960120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566160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63931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7C"/>
                </a:solidFill>
              </a:rPr>
              <a:t>Tj completed read phase before Ti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9502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Tj finished read phase before Ti finishes read phase, AND write_set(Tj) ∩ read_set(Ti) = ∅ AND write_set(Tj) ∩ write_set(Ti) = ∅.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If none of these conditions hold → ABORT Ti and restart.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Multiple Granularity Locking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Locking at different levels of granularity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10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Multiple Granularity — Concepts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Granularity: The size of data items on which locks are acquired. Larger granularity = less overhead but less concurrency.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463040"/>
            <a:ext cx="1645920" cy="475488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4904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Database  (Entire DB)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560320" cy="47548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391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Table  (A relation)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560320"/>
            <a:ext cx="3474720" cy="475488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5877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Page  (Disk block)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3108960"/>
            <a:ext cx="4389120" cy="47548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3136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Record/Tuple  (Individual row)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3657600"/>
            <a:ext cx="5303520" cy="4754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36850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Attribute  (Column value)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B7"/>
                </a:solidFill>
              </a:rPr>
              <a:t>Coarse granularity (DB/Table): Low overhead, Low concurrency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87C"/>
                </a:solidFill>
              </a:rPr>
              <a:t>Fine granularity (Record/Attr): High overhead, High concurrency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Intention Locks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Intention locks are placed on ancestor nodes to indicate what type of lock a transaction intends to acquire lower in the hierarchy.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63040"/>
            <a:ext cx="1828800" cy="804672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630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 (Intention Shared)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50876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Transaction intends to acquire S-lock on a descendant node. Allows shared reads below.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1828800" cy="804672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231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IX (Intention Exclusive)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46888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Transaction intends to acquire X-lock on a descendant node. Allows exclusive writes below.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1828800" cy="804672"/>
          </a:xfrm>
          <a:prstGeom prst="rect">
            <a:avLst/>
          </a:prstGeom>
          <a:solidFill>
            <a:srgbClr val="F6820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832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SIX (Shared + Intention Exclusive)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42900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Transaction holds S-lock on current node AND intends X-lock on a descendant. Useful for read-all + write-some.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Compatibility Matrix (rows = held, cols = requested):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Multiple Granularity Locking —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502920" cy="5943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68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8961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lock compatibility matrix for IS, IX, S, SIX, X must be respected.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554480"/>
            <a:ext cx="502920" cy="5943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5544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581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root of the tree must be locked first, in any mode.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40280"/>
            <a:ext cx="502920" cy="5943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240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2677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transaction may lock a node Q in S or IS mode only if its parent is locked in IX or IS mode.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26080"/>
            <a:ext cx="502920" cy="5943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260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9535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transaction may lock a node Q in X, IX, or SIX mode only if its parent is locked in IX or SIX mode.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11880"/>
            <a:ext cx="502920" cy="5943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6118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6393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transaction may lock a node only if it has not previously unlocked any node (two-phase rule).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297680"/>
            <a:ext cx="502920" cy="59436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2976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3251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transaction may unlock node Q only if none of Q's children are currently locked by the transaction.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These rules ensure conflict serializability across all granularity levels.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Multiple Granularity — Example Transactions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43200" cy="384048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533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IS lock on DB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27432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391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IS lock on Table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7249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 lock on Record r1 in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2743200" cy="457200"/>
          </a:xfrm>
          <a:prstGeom prst="rect">
            <a:avLst/>
          </a:prstGeom>
          <a:solidFill>
            <a:srgbClr val="1E4DB7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410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Purpose: Reading one record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743200" cy="384048"/>
          </a:xfrm>
          <a:prstGeom prst="rect">
            <a:avLst/>
          </a:prstGeom>
          <a:solidFill>
            <a:srgbClr val="5B2D91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32588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13533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IX lock on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0391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IX lock on Table 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69748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27249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 lock on Record r2 in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383280"/>
            <a:ext cx="2743200" cy="457200"/>
          </a:xfrm>
          <a:prstGeom prst="rect">
            <a:avLst/>
          </a:prstGeom>
          <a:solidFill>
            <a:srgbClr val="5B2D91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3410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Purpose: Writing one record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868680"/>
            <a:ext cx="2743200" cy="384048"/>
          </a:xfrm>
          <a:prstGeom prst="rect">
            <a:avLst/>
          </a:prstGeom>
          <a:solidFill>
            <a:srgbClr val="00B87C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132588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3533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IX lock on 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011680"/>
            <a:ext cx="274320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0391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SIX lock on Table 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697480"/>
            <a:ext cx="27432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272491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X lock on Record r5 in 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383280"/>
            <a:ext cx="2743200" cy="457200"/>
          </a:xfrm>
          <a:prstGeom prst="rect">
            <a:avLst/>
          </a:prstGeom>
          <a:solidFill>
            <a:srgbClr val="00B87C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410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Purpose: Read all of B + write r5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3977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B5E"/>
                </a:solidFill>
              </a:rPr>
              <a:t>T1 and T2 can run concurrently on Table A (different records). T3 on Table B — independent.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4074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A8A"/>
                </a:solidFill>
              </a:rPr>
              <a:t>Multiple Granularity Locking minimizes lock overhead while maximizing concurrency through the hierarchy.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D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Summary and Comparison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E0"/>
                </a:solidFill>
              </a:rPr>
              <a:t>Key takeaways from Chapter 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D8F0"/>
                </a:solidFill>
              </a:rPr>
              <a:t>Section Final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Overall Comparison of Concurrency Control Techniques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47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  <a:gridCol w="1737360"/>
                <a:gridCol w="1920240"/>
              </a:tblGrid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Locking (2PL)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MVCC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Optimistic CC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Deadlock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</a:rPr>
                        <a:t>Possible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None (readers)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Starvation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</a:rPr>
                        <a:t>Possible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</a:rPr>
                        <a:t>Possible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</a:rPr>
                        <a:t>Possible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Read Performance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Very 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Very 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Write Performance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</a:rPr>
                        <a:t>High (low conflict)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Concurrency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Very 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Very 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Complexity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Abort Rate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Medium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B87C"/>
                          </a:solidFill>
                        </a:rPr>
                        <a:t>Low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53E3E"/>
                          </a:solidFill>
                        </a:rPr>
                        <a:t>High (conflicts)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Real DBMS Use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PostgreSQL, 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Distributed DBs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Oracle, Postgres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</a:rPr>
                        <a:t>SAP HANA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640080" cy="640080"/>
          </a:xfrm>
          <a:prstGeom prst="oval">
            <a:avLst/>
          </a:prstGeom>
          <a:solidFill>
            <a:srgbClr val="1E4DB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DB7"/>
                </a:solidFill>
              </a:rPr>
              <a:t>Concurrency Control is Essential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52704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Without it, concurrent transactions produce incorrect results due to lost updates, dirty reads, and phantom reads.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640080" cy="640080"/>
          </a:xfrm>
          <a:prstGeom prst="oval">
            <a:avLst/>
          </a:prstGeom>
          <a:solidFill>
            <a:srgbClr val="5B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91"/>
                </a:solidFill>
              </a:rPr>
              <a:t>Serializability is the Goal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52704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A concurrent schedule must be equivalent to some serial schedule — this is the formal correctness criterion.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37560"/>
            <a:ext cx="640080" cy="640080"/>
          </a:xfrm>
          <a:prstGeom prst="oval">
            <a:avLst/>
          </a:prstGeom>
          <a:solidFill>
            <a:srgbClr val="E53E3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Deadlock Must Be Handled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4930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Locking-based protocols risk deadlock. Solutions: prevention (Wait-Die/Wound-Wait) or detection and resolution.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337560"/>
            <a:ext cx="640080" cy="640080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063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7C"/>
                </a:solidFill>
              </a:rPr>
              <a:t>MVCC is Modern Standard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4930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Most production databases (PostgreSQL, Oracle, MySQL) use MVCC for excellent read performance and high concurrency.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8F0"/>
                </a:solidFill>
              </a:rPr>
              <a:t>ASTU | CSEg 2208 – Database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49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Concurrency control is the backbone of multi-user database systems ensuring data integrity at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54480"/>
            <a:ext cx="365760" cy="365760"/>
          </a:xfrm>
          <a:prstGeom prst="oval">
            <a:avLst/>
          </a:prstGeom>
          <a:solidFill>
            <a:srgbClr val="1E4DB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5087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Lock-based protocols (especially 2PL) provide proven serializability guarantees and remain the foundation of most DBMS designs.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8412480" cy="5760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12848"/>
            <a:ext cx="365760" cy="365760"/>
          </a:xfrm>
          <a:prstGeom prst="oval">
            <a:avLst/>
          </a:prstGeom>
          <a:solidFill>
            <a:srgbClr val="5B2D9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1671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Timestamp-based protocols eliminate deadlocks but introduce starvation risks — well suited for distributed systems.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871216"/>
            <a:ext cx="365760" cy="365760"/>
          </a:xfrm>
          <a:prstGeom prst="oval">
            <a:avLst/>
          </a:prstGeom>
          <a:solidFill>
            <a:srgbClr val="00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82549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MVCC revolutionized read-heavy workloads: PostgreSQL, Oracle, and MySQL all rely on it for high-performance concurrency.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8412480" cy="576072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529584"/>
            <a:ext cx="365760" cy="365760"/>
          </a:xfrm>
          <a:prstGeom prst="oval">
            <a:avLst/>
          </a:prstGeom>
          <a:solidFill>
            <a:srgbClr val="F6820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48386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Optimistic concurrency control excels when conflicts are rare, avoiding all lock overhead at the cost of higher abort rates.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841248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187952"/>
            <a:ext cx="365760" cy="365760"/>
          </a:xfrm>
          <a:prstGeom prst="oval">
            <a:avLst/>
          </a:prstGeom>
          <a:solidFill>
            <a:srgbClr val="F0B429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1422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Multiple granularity locking bridges theory and practice — coarse locks for bulk ops, fine locks for precision access.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A8A"/>
                </a:solidFill>
              </a:rPr>
              <a:t>Understanding these techniques is fundamental for designing scalable, correct, and performant database applications.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C2E0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91440"/>
            <a:ext cx="5029200" cy="505206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274320"/>
            <a:ext cx="4572000" cy="4572000"/>
          </a:xfrm>
          <a:prstGeom prst="oval">
            <a:avLst/>
          </a:prstGeom>
          <a:solidFill>
            <a:srgbClr val="1E4DB7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1371600"/>
            <a:ext cx="3200400" cy="3200400"/>
          </a:xfrm>
          <a:prstGeom prst="oval">
            <a:avLst/>
          </a:prstGeom>
          <a:solidFill>
            <a:srgbClr val="5B2D91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822960"/>
            <a:ext cx="1645920" cy="1645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743200"/>
            <a:ext cx="1097280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1097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You!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365760" y="20116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2E0"/>
                </a:solidFill>
              </a:rPr>
              <a:t>Questions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C2E0"/>
                </a:solidFill>
              </a:rPr>
              <a:t>Answers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65760" y="2971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F0"/>
                </a:solidFill>
              </a:rPr>
              <a:t>Chapter 5: Concurrency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0D8F0"/>
                </a:solidFill>
              </a:rPr>
              <a:t>Database Systems — CSEg 2208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F0"/>
                </a:solidFill>
              </a:rPr>
              <a:t>Adama Science and Technology University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D8F0"/>
                </a:solidFill>
              </a:rPr>
              <a:t>Department of CS &amp;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Concurrency Control</dc:title>
  <dc:subject>PptxGenJS Presentation</dc:subject>
  <dc:creator>PptxGenJS</dc:creator>
  <cp:lastModifiedBy>PptxGenJS</cp:lastModifiedBy>
  <cp:revision>1</cp:revision>
  <dcterms:created xsi:type="dcterms:W3CDTF">2026-05-20T11:39:41Z</dcterms:created>
  <dcterms:modified xsi:type="dcterms:W3CDTF">2026-05-20T11:39:41Z</dcterms:modified>
</cp:coreProperties>
</file>